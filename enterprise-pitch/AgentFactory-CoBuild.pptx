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prototype — and an honest look at the gaps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187452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WORKING SESSION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2148840"/>
            <a:ext cx="105064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AgentFactory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41248" y="324612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seen AgentFactory and you're interested in collaboration. Today isn't only a product pitch — it's a working session on whether we should harden it for enterprise use in your environment, together.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1248" y="4754880"/>
            <a:ext cx="1278331" cy="402336"/>
          </a:xfrm>
          <a:prstGeom prst="roundRect">
            <a:avLst>
              <a:gd name="adj" fmla="val 50000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754880"/>
            <a:ext cx="12783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4171" y="4754880"/>
            <a:ext cx="1099109" cy="402336"/>
          </a:xfrm>
          <a:prstGeom prst="roundRect">
            <a:avLst>
              <a:gd name="adj" fmla="val 50000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4171" y="4754880"/>
            <a:ext cx="109910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47872" y="4754880"/>
            <a:ext cx="1726387" cy="402336"/>
          </a:xfrm>
          <a:prstGeom prst="roundRect">
            <a:avLst>
              <a:gd name="adj" fmla="val 50000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4754880"/>
            <a:ext cx="17263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different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38851" y="4754880"/>
            <a:ext cx="1726387" cy="402336"/>
          </a:xfrm>
          <a:prstGeom prst="roundRect">
            <a:avLst>
              <a:gd name="adj" fmla="val 50000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8851" y="4754880"/>
            <a:ext cx="172638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maturity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29830" y="4754880"/>
            <a:ext cx="2084832" cy="402336"/>
          </a:xfrm>
          <a:prstGeom prst="roundRect">
            <a:avLst>
              <a:gd name="adj" fmla="val 50000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9830" y="475488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we'd collaborate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worth solving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WHY THIS MATTERS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an agent to write code is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easy part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841248" y="25146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backlog grows — the team doesn't. Agent pilots impress in a demo but rarely reach production. The hard part isn't generating code. It's letting an agent touch real backlog, real repositories and a real delivery flow — safely, with clear ownership and review gates.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41248" y="4663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quality gates, no audit, no clear ownership — that's where pilots stall. That's the gap this is built to close.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board is the proof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· 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LIVE · THE BOARD IS THE CONTROL PLANE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658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real.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put one task through it.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41248" y="2468880"/>
            <a:ext cx="5806440" cy="3383280"/>
          </a:xfrm>
          <a:prstGeom prst="roundRect">
            <a:avLst>
              <a:gd name="adj" fmla="val 3243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61288" y="2724912"/>
            <a:ext cx="523951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live board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real stations, your work moving left to right.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task down the line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watch a worker pick it up.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agent reviews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work than the one that built it.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 station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follows your deploy pipeline and updates the task in your source system when that integration is configured.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03720" y="2468880"/>
            <a:ext cx="4443984" cy="3383280"/>
          </a:xfrm>
          <a:prstGeom prst="roundRect">
            <a:avLst>
              <a:gd name="adj" fmla="val 3243"/>
            </a:avLst>
          </a:prstGeom>
          <a:solidFill>
            <a:srgbClr val="141119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23760" y="2743200"/>
            <a:ext cx="1737360" cy="402336"/>
          </a:xfrm>
          <a:prstGeom prst="roundRect">
            <a:avLst>
              <a:gd name="adj" fmla="val 50000"/>
            </a:avLst>
          </a:prstGeom>
          <a:solidFill>
            <a:srgbClr val="11241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0" y="27432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33375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it's not on the board, it didn't happen." The board is the control plane — not just a UI.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43434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reporting layer is the board itself — the same lifecycle that controls the work.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engineering needs process, not just models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STATIONS, NOT A BLACK BOX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is built in —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promised afterward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841248" y="2468880"/>
            <a:ext cx="5074920" cy="2606040"/>
          </a:xfrm>
          <a:prstGeom prst="roundRect">
            <a:avLst>
              <a:gd name="adj" fmla="val 4211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61288" y="2724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AI IS USUALLY SOLD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3108960"/>
            <a:ext cx="4507992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›"/>
            </a:pPr>
            <a:r>
              <a:rPr lang="en-US" sz="14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→ Solved</a:t>
            </a:r>
            <a:endParaRPr lang="en-US" sz="1400" dirty="0"/>
          </a:p>
          <a:p>
            <a:pPr algn="l"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›"/>
            </a:pPr>
            <a:r>
              <a:rPr lang="en-US" sz="14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black box in the middle</a:t>
            </a:r>
            <a:endParaRPr lang="en-US" sz="1400" dirty="0"/>
          </a:p>
          <a:p>
            <a:pPr algn="l" marL="203200" indent="-203200">
              <a:lnSpc>
                <a:spcPct val="102000"/>
              </a:lnSpc>
              <a:spcAft>
                <a:spcPts val="1000"/>
              </a:spcAft>
              <a:buSzPct val="100000"/>
              <a:buChar char="›"/>
            </a:pPr>
            <a:r>
              <a:rPr lang="en-US" sz="14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= hope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5221224" cy="2606040"/>
          </a:xfrm>
          <a:prstGeom prst="roundRect">
            <a:avLst>
              <a:gd name="adj" fmla="val 4211"/>
            </a:avLst>
          </a:prstGeom>
          <a:solidFill>
            <a:srgbClr val="141119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724912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AGENTFACTORY RUNS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108960"/>
            <a:ext cx="46542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→ Spec → Build → Review → Deliver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station: a fixed instruction + a quality gate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isolated git worktree</a:t>
            </a:r>
            <a:pPr algn="l" indent="0" marL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task; a reviewable diff against the merge-base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different agent reviews; a human checkpoint before delivery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534924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lives in the stations, gates and review loop — not only in the model.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enterprise-relevant core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CONTROL 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</a:t>
            </a:r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approve their own work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841248" y="233172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3317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8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22576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642616" y="233172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23317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</a:t>
            </a:r>
            <a:endParaRPr lang="en-US" sz="8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23944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3984" y="233172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23317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</a:t>
            </a:r>
            <a:endParaRPr lang="en-US" sz="8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in_progress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925312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45352" y="233172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23317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8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in_review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726680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233172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3317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✓</a:t>
            </a:r>
            <a:endParaRPr lang="en-US" sz="8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528048" y="233172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48088" y="2331720"/>
            <a:ext cx="1481328" cy="868680"/>
          </a:xfrm>
          <a:prstGeom prst="roundRect">
            <a:avLst>
              <a:gd name="adj" fmla="val 9474"/>
            </a:avLst>
          </a:prstGeom>
          <a:solidFill>
            <a:srgbClr val="141119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48088" y="2331720"/>
            <a:ext cx="14813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WATCHER</a:t>
            </a:r>
            <a:endParaRPr lang="en-US" sz="85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1248" y="3611880"/>
            <a:ext cx="3258312" cy="2103120"/>
          </a:xfrm>
          <a:prstGeom prst="roundRect">
            <a:avLst>
              <a:gd name="adj" fmla="val 5217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61288" y="3867912"/>
            <a:ext cx="261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ENFORCED LIFECYCLE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61288" y="4251960"/>
            <a:ext cx="2618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changes are declared edges keyed by (from, to, by). Agents can't invent tasks or skip steps.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465320" y="3611880"/>
            <a:ext cx="3258312" cy="2103120"/>
          </a:xfrm>
          <a:prstGeom prst="roundRect">
            <a:avLst>
              <a:gd name="adj" fmla="val 5217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85360" y="3867912"/>
            <a:ext cx="261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 REVIEW GATE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85360" y="4251960"/>
            <a:ext cx="2618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Approve, reopen, force-complete are human-only. An agent can never approve, force-complete or delete its own work.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89392" y="3611880"/>
            <a:ext cx="3258312" cy="2103120"/>
          </a:xfrm>
          <a:prstGeom prst="roundRect">
            <a:avLst>
              <a:gd name="adj" fmla="val 5217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09432" y="3867912"/>
            <a:ext cx="261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DELIVERY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09432" y="4251960"/>
            <a:ext cx="26182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watcher confirms the PR is merged and CI is green — or it goes back to the queue. "Done" is not self-declared.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maturity, not overselling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WHERE IT IS TODAY — HONESTLY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control model — </a:t>
            </a:r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an enterprise platform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841248" y="2468880"/>
            <a:ext cx="5074920" cy="2514600"/>
          </a:xfrm>
          <a:prstGeom prst="roundRect">
            <a:avLst>
              <a:gd name="adj" fmla="val 4364"/>
            </a:avLst>
          </a:prstGeom>
          <a:solidFill>
            <a:srgbClr val="141119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61288" y="272491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TODAY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3108960"/>
            <a:ext cx="4507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Local-first; simple single-file datastore for the current prototype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interface; one isolated git worktree per task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loop; enforced human review gate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 / GitHub delivery bridge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2468880"/>
            <a:ext cx="5221224" cy="2514600"/>
          </a:xfrm>
          <a:prstGeom prst="roundRect">
            <a:avLst>
              <a:gd name="adj" fmla="val 4364"/>
            </a:avLst>
          </a:prstGeom>
          <a:solidFill>
            <a:srgbClr val="141119"/>
          </a:solidFill>
          <a:ln w="19050">
            <a:solidFill>
              <a:srgbClr val="F685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724912"/>
            <a:ext cx="4581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8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YET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3108960"/>
            <a:ext cx="46542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Single-user / operator-controlled — no SSO or RBAC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exportable audit log or retention policy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enterprise database / deployment profile yet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observability; no policy-by-risk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525780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shown today runs now; the enterprise hardening is exactly what we propose to scope together.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joint hardening roadmap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WE'D HARDEN TOGETHER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18872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enterprise-readiness backlog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65960"/>
          <a:ext cx="10506456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3968496"/>
                <a:gridCol w="4663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A1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Area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A1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Current strength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A1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Enterprise hardening needed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/ operator-controlled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SSO/OIDC, RBAC, approval roles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history + task activity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Exportable audit log, retention policy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Worktree isolation, no direct agent-to-task-source coupling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 vault, least-privilege tokens, threat model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Deployment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Local-first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/ Kubernetes, backup, upgrade path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review gate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by task type, repo, risk level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control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Human-supervised 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model list, data-boundary policy, prompt/tool policy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+ token metrics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 logging, alerts, dashboards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Human-supervised workflow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DPA, data-flow docs, model/data policy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41248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showing you the gaps on purpose. That honesty is the basis for a partnership — and the backlog for the pilot.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portability and ownership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/ Poul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PORTABILITY · NO LOCK-IN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process —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if we operate it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41248" y="246888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141119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61288" y="2724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 — THE OPEN PROTOCOL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3108960"/>
            <a:ext cx="4782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Stations, lines and gates as an open protocol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station definitions in plain text</a:t>
            </a:r>
            <a:pPr algn="l" indent="0" marL="0">
              <a:lnSpc>
                <a:spcPct val="10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 own them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history in git — portable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lock-in, no migration; take your process with you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2468880"/>
            <a:ext cx="4946904" cy="2651760"/>
          </a:xfrm>
          <a:prstGeom prst="roundRect">
            <a:avLst>
              <a:gd name="adj" fmla="val 4138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20840" y="272491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AGENTFACTORY — THE IMPLEMENTATION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20840" y="3108960"/>
            <a:ext cx="43799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running system, built on ALP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saw in the demo</a:t>
            </a:r>
            <a:endParaRPr lang="en-US" sz="1300" dirty="0"/>
          </a:p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Operated by us — or, after hardening, by you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539496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git and GitHub: the protocol is portable; the operated service is optional.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Co-build first · operate optionally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+ Poul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HOW WE'D COLLABORATE · SAME AGENTFACTORY FOUNDATION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18872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collaborate — </a:t>
            </a:r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foundation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41248" y="2148840"/>
            <a:ext cx="5349240" cy="3063240"/>
          </a:xfrm>
          <a:prstGeom prst="roundRect">
            <a:avLst>
              <a:gd name="adj" fmla="val 3582"/>
            </a:avLst>
          </a:prstGeom>
          <a:solidFill>
            <a:srgbClr val="141119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61288" y="24048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A · ENTERPRISE CO-BUILD PILOT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27889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if you want AgentFactory hardened for your environment.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61288" y="3191256"/>
            <a:ext cx="4782312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5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Six-month, fixed-scope pilot</a:t>
            </a:r>
            <a:endParaRPr lang="en-US" sz="1200" dirty="0"/>
          </a:p>
          <a:p>
            <a:pPr algn="l" marL="203200" indent="-203200">
              <a:lnSpc>
                <a:spcPct val="102000"/>
              </a:lnSpc>
              <a:spcAft>
                <a:spcPts val="5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backlog slice — or a greenfield product area</a:t>
            </a:r>
            <a:endParaRPr lang="en-US" sz="1200" dirty="0"/>
          </a:p>
          <a:p>
            <a:pPr algn="l" marL="203200" indent="-203200">
              <a:lnSpc>
                <a:spcPct val="102000"/>
              </a:lnSpc>
              <a:spcAft>
                <a:spcPts val="5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 together: SSO/RBAC, deployment, audit, security model, operating procedures</a:t>
            </a:r>
            <a:endParaRPr lang="en-US" sz="1200" dirty="0"/>
          </a:p>
          <a:p>
            <a:pPr algn="l" marL="203200" indent="-203200">
              <a:lnSpc>
                <a:spcPct val="102000"/>
              </a:lnSpc>
              <a:spcAft>
                <a:spcPts val="5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requirements, process definitions and operational learning</a:t>
            </a:r>
            <a:endParaRPr lang="en-US" sz="1200" dirty="0"/>
          </a:p>
          <a:p>
            <a:pPr algn="l" marL="203200" indent="-203200">
              <a:lnSpc>
                <a:spcPct val="102000"/>
              </a:lnSpc>
              <a:spcAft>
                <a:spcPts val="5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end: continue together, operate it yourselves, or stop — no lock-in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2148840"/>
            <a:ext cx="4946904" cy="3063240"/>
          </a:xfrm>
          <a:prstGeom prst="roundRect">
            <a:avLst>
              <a:gd name="adj" fmla="val 3582"/>
            </a:avLst>
          </a:prstGeom>
          <a:solidFill>
            <a:srgbClr val="141119"/>
          </a:solidFill>
          <a:ln w="19050">
            <a:solidFill>
              <a:srgbClr val="F685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0840" y="2404872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8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B · OPERATED FACTORY LINE (OPTIONAL)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2788920"/>
            <a:ext cx="4306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if you want throughput while the platform matures.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20840" y="3191256"/>
            <a:ext cx="437997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set up and operate a line for selected tasks</a:t>
            </a:r>
            <a:endParaRPr lang="en-US" sz="120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approval gates and source-system ownership</a:t>
            </a:r>
            <a:endParaRPr lang="en-US" sz="120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provide line management, monitoring and rework handling</a:t>
            </a:r>
            <a:endParaRPr lang="en-US" sz="1200" dirty="0"/>
          </a:p>
          <a:p>
            <a:pPr algn="l" marL="203200" indent="-203200">
              <a:lnSpc>
                <a:spcPct val="102000"/>
              </a:lnSpc>
              <a:spcAft>
                <a:spcPts val="600"/>
              </a:spcAft>
              <a:buSzPct val="100000"/>
              <a:buChar char="›"/>
            </a:pPr>
            <a:r>
              <a:rPr lang="en-US" sz="120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run alongside the co-build pilot as a practical proof point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54406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for today: which collaboration model is the safest first step for you?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concrete, low-risk first step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+ Poul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841248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NEXT STEP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118872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we'd need to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41248" y="2148840"/>
            <a:ext cx="3258312" cy="1417320"/>
          </a:xfrm>
          <a:prstGeom prst="roundRect">
            <a:avLst>
              <a:gd name="adj" fmla="val 7742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33856" y="2368296"/>
            <a:ext cx="270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backlog 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3856" y="2898648"/>
            <a:ext cx="2709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queue we can connect to — Jira, Azure DevOps or a backlog slice.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65320" y="2148840"/>
            <a:ext cx="3258312" cy="1417320"/>
          </a:xfrm>
          <a:prstGeom prst="roundRect">
            <a:avLst>
              <a:gd name="adj" fmla="val 7742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7928" y="2368296"/>
            <a:ext cx="270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low-risk candidate tasks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7928" y="2898648"/>
            <a:ext cx="2709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Concrete first tasks to run the line end to end.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89392" y="2148840"/>
            <a:ext cx="3258312" cy="1417320"/>
          </a:xfrm>
          <a:prstGeom prst="roundRect">
            <a:avLst>
              <a:gd name="adj" fmla="val 7742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82000" y="2368296"/>
            <a:ext cx="270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technical / security contact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2000" y="2898648"/>
            <a:ext cx="2709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scope the hardening backlog against your controls.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" y="3721608"/>
            <a:ext cx="3258312" cy="1417320"/>
          </a:xfrm>
          <a:prstGeom prst="roundRect">
            <a:avLst>
              <a:gd name="adj" fmla="val 7742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33856" y="3941064"/>
            <a:ext cx="270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business sponsor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33856" y="4471416"/>
            <a:ext cx="2709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own success criteria and the decision at six months.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65320" y="3721608"/>
            <a:ext cx="3258312" cy="1417320"/>
          </a:xfrm>
          <a:prstGeom prst="roundRect">
            <a:avLst>
              <a:gd name="adj" fmla="val 7742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7928" y="3941064"/>
            <a:ext cx="270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the pilot shape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7928" y="4471416"/>
            <a:ext cx="2709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Greenfield or backlog slice; scope and gates, with success measures: cycle time, clean pass rate, rework rate, human-override rate.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089392" y="3721608"/>
            <a:ext cx="3258312" cy="1417320"/>
          </a:xfrm>
          <a:prstGeom prst="roundRect">
            <a:avLst>
              <a:gd name="adj" fmla="val 7742"/>
            </a:avLst>
          </a:prstGeom>
          <a:solidFill>
            <a:srgbClr val="141119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382000" y="3941064"/>
            <a:ext cx="2709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shared decision point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82000" y="4471416"/>
            <a:ext cx="2709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six months: continue, take it over, or stop — no lock-in.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" y="5440680"/>
            <a:ext cx="105064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controlled line can run quickly; enterprise hardening is the six-month collaboration.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deep-dive backup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· if asked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A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91440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ARCHITECTURE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128016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it's </a:t>
            </a:r>
            <a:pPr algn="l"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41248" y="2514600"/>
            <a:ext cx="3258312" cy="2377440"/>
          </a:xfrm>
          <a:prstGeom prst="roundRect">
            <a:avLst>
              <a:gd name="adj" fmla="val 4615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61288" y="2770632"/>
            <a:ext cx="261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DB OWNER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61288" y="3154680"/>
            <a:ext cx="2618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packages, npm workspaces, strict TypeScript. A single package owns the datastore and every lifecycle rule — the state machine lives in one place.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65320" y="2514600"/>
            <a:ext cx="3258312" cy="2377440"/>
          </a:xfrm>
          <a:prstGeom prst="roundRect">
            <a:avLst>
              <a:gd name="adj" fmla="val 4615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85360" y="2770632"/>
            <a:ext cx="261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SUPERVISORS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85360" y="3154680"/>
            <a:ext cx="2618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Dispatcher spawns one fresh agent session per queued task. Reviewer posts an advisory second-agent verdict. Watcher verifies delivery on the git host over REST — no LLM.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89392" y="2514600"/>
            <a:ext cx="3258312" cy="2377440"/>
          </a:xfrm>
          <a:prstGeom prst="roundRect">
            <a:avLst>
              <a:gd name="adj" fmla="val 4615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09432" y="2770632"/>
            <a:ext cx="261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&amp; ISOLATED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09432" y="3154680"/>
            <a:ext cx="26182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state is a local datastore; each task runs in its own git worktree. Nothing about the work has to leave your network.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" y="5120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deep IT or compliance questions, we propose a separate technical review of the ALP spec and control model with your security team.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operating model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Poul · if asked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A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91440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OPERATED LINE, IN DETAIL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128016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you can dial — </a:t>
            </a:r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your gates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841248" y="2560320"/>
            <a:ext cx="5806440" cy="2743200"/>
          </a:xfrm>
          <a:prstGeom prst="roundRect">
            <a:avLst>
              <a:gd name="adj" fmla="val 4000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161288" y="2816352"/>
            <a:ext cx="5239512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line-manager</a:t>
            </a:r>
            <a:pPr algn="l"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watches the board, catches stuck tasks and handles rework, with a team behind them.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is one dial: add a line for more parallel throughput; pause and keep the backlog and definitions.</a:t>
            </a:r>
            <a:endParaRPr lang="en-US" sz="1350" dirty="0"/>
          </a:p>
          <a:p>
            <a:pPr algn="l" marL="203200" indent="-203200">
              <a:lnSpc>
                <a:spcPct val="102000"/>
              </a:lnSpc>
              <a:spcAft>
                <a:spcPts val="900"/>
              </a:spcAft>
              <a:buSzPct val="100000"/>
              <a:buChar char="›"/>
            </a:pPr>
            <a:r>
              <a:rPr lang="en-US" sz="13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approval gates and own the source system throughout.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903720" y="2560320"/>
            <a:ext cx="4443984" cy="2743200"/>
          </a:xfrm>
          <a:prstGeom prst="roundRect">
            <a:avLst>
              <a:gd name="adj" fmla="val 4000"/>
            </a:avLst>
          </a:prstGeom>
          <a:solidFill>
            <a:srgbClr val="141119"/>
          </a:solidFill>
          <a:ln w="19050">
            <a:solidFill>
              <a:srgbClr val="F685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3760" y="28163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8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WE'D MEASURE 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2376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work can continue asynchronously;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stay in your working hours and under your control.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223760" y="4343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track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pass rate, rework rate and human-override rate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straight from the board — no separate report.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framing — optional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/ Poul · if time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A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91440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TRANSITION · L1 → L5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128016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move up the levels by </a:t>
            </a:r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tightening or loosening a gate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41248" y="2514600"/>
            <a:ext cx="1881835" cy="1828800"/>
          </a:xfrm>
          <a:prstGeom prst="roundRect">
            <a:avLst>
              <a:gd name="adj" fmla="val 5000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651760"/>
            <a:ext cx="1424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69848" y="3127248"/>
            <a:ext cx="1424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3474720"/>
            <a:ext cx="14703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writes; AI autocompletes.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97403" y="2514600"/>
            <a:ext cx="1881835" cy="1828800"/>
          </a:xfrm>
          <a:prstGeom prst="roundRect">
            <a:avLst>
              <a:gd name="adj" fmla="val 5000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6003" y="2651760"/>
            <a:ext cx="1424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26003" y="3127248"/>
            <a:ext cx="1424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26003" y="3474720"/>
            <a:ext cx="14703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on a task under constant steering.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53558" y="2514600"/>
            <a:ext cx="1881835" cy="1828800"/>
          </a:xfrm>
          <a:prstGeom prst="roundRect">
            <a:avLst>
              <a:gd name="adj" fmla="val 5000"/>
            </a:avLst>
          </a:prstGeom>
          <a:solidFill>
            <a:srgbClr val="1712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2158" y="2651760"/>
            <a:ext cx="1424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82158" y="3127248"/>
            <a:ext cx="1424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82158" y="3474720"/>
            <a:ext cx="14703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tasks in guardrails; human approves each.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09714" y="2514600"/>
            <a:ext cx="1881835" cy="1828800"/>
          </a:xfrm>
          <a:prstGeom prst="roundRect">
            <a:avLst>
              <a:gd name="adj" fmla="val 5000"/>
            </a:avLst>
          </a:prstGeom>
          <a:solidFill>
            <a:srgbClr val="1712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8314" y="2651760"/>
            <a:ext cx="1424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38314" y="3127248"/>
            <a:ext cx="1424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38314" y="3474720"/>
            <a:ext cx="14703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tasks in parallel; review by exception.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65869" y="2514600"/>
            <a:ext cx="1881835" cy="1828800"/>
          </a:xfrm>
          <a:prstGeom prst="roundRect">
            <a:avLst>
              <a:gd name="adj" fmla="val 5000"/>
            </a:avLst>
          </a:prstGeom>
          <a:solidFill>
            <a:srgbClr val="171233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4469" y="2651760"/>
            <a:ext cx="14246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94469" y="3127248"/>
            <a:ext cx="14246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Self-delivering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94469" y="3474720"/>
            <a:ext cx="14703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→ verified delivery, minimal human touch.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" y="4663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is a property of the deployment, not the model. A pilot starts at L3 — review everything — and earns its way toward L4/L5 as trust builds. Aligned to the Context&amp; AI Transition model.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market 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Poul · if asked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A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91440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MARKET THESIS · FROM HOURS TO FACTORIES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128016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delivery model is </a:t>
            </a:r>
            <a:pPr algn="l" indent="0" marL="0">
              <a:lnSpc>
                <a:spcPct val="102000"/>
              </a:lnSpc>
              <a:buNone/>
            </a:pPr>
            <a:r>
              <a:rPr lang="en-US" sz="31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841248" y="260604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AI accelerates the work itself, every task shrinks — and a business that sells hours × people shrinks with it. When delivery is no longer measured in time, the question changes: not how many hours, but what got delivered.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903720" y="2560320"/>
            <a:ext cx="4443984" cy="2651760"/>
          </a:xfrm>
          <a:prstGeom prst="roundRect">
            <a:avLst>
              <a:gd name="adj" fmla="val 4138"/>
            </a:avLst>
          </a:prstGeom>
          <a:solidFill>
            <a:srgbClr val="141119"/>
          </a:solidFill>
          <a:ln w="19050">
            <a:solidFill>
              <a:srgbClr val="F6851F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23760" y="28163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85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23760" y="3200400"/>
            <a:ext cx="38770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›"/>
            </a:pPr>
            <a:r>
              <a:rPr lang="en-US" sz="12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estimate, staff, invoice time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›"/>
            </a:pPr>
            <a:r>
              <a:rPr lang="en-US" sz="12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fixed price on bounded deliveries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›"/>
            </a:pPr>
            <a:r>
              <a:rPr lang="en-US" sz="1250" b="1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algn="l"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subscription on running capacity</a:t>
            </a:r>
            <a:endParaRPr lang="en-US" sz="1250" dirty="0"/>
          </a:p>
          <a:p>
            <a:pPr algn="l" marL="203200" indent="-203200">
              <a:lnSpc>
                <a:spcPct val="102000"/>
              </a:lnSpc>
              <a:spcAft>
                <a:spcPts val="700"/>
              </a:spcAft>
              <a:buSzPct val="100000"/>
              <a:buChar char="›"/>
            </a:pPr>
            <a:r>
              <a:rPr lang="en-US" sz="1250" dirty="0">
                <a:solidFill>
                  <a:srgbClr val="D6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up and down like cloud — not like hiring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for our commercial model — not the reason for today's meeting. Today is about co-building an enterprise-ready platform.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1188720"/>
            <a:ext cx="4572000" cy="7315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3000" b="1" dirty="0">
                <a:solidFill>
                  <a:srgbClr val="1714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</a:t>
            </a:r>
            <a:endParaRPr lang="en-US" sz="43000" dirty="0"/>
          </a:p>
        </p:txBody>
      </p:sp>
      <p:sp>
        <p:nvSpPr>
          <p:cNvPr id="3" name="Text 1"/>
          <p:cNvSpPr/>
          <p:nvPr/>
        </p:nvSpPr>
        <p:spPr>
          <a:xfrm>
            <a:off x="841248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pPr algn="l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</a:t>
            </a:r>
            <a:pPr algn="l" indent="0" marL="0">
              <a:buNone/>
            </a:pPr>
            <a:r>
              <a:rPr lang="en-US" sz="10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agentics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775704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— your own estimate converts the same way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21624" y="3840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Poul · if asked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A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914400"/>
            <a:ext cx="10506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OPERATED-LINE PRICING · ILLUSTRATIVE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1234440"/>
            <a:ext cx="10506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operated line — indicative pricing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" y="1965960"/>
          <a:ext cx="10506456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5385816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A1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Capacity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A1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 price (anchor)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A7A1B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you get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8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40,000 kr/mo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Board, operation and a line-manager — plus architect / workshop / discovery hours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More lines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same anchor per line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capacity on the same board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5F3F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Pause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A6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standby fee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7A1B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Backlog, context and definitions preserved — restart is one click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B27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119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" y="416052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141119"/>
          </a:solidFill>
          <a:ln w="12700">
            <a:solidFill>
              <a:srgbClr val="2B27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4343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A7A1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· CLASSIC TEAM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5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3.0M kr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hours · classic hourly rate — customer carries estimate risk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413248" y="4160520"/>
            <a:ext cx="136245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775704" y="4160520"/>
            <a:ext cx="4572000" cy="1417320"/>
          </a:xfrm>
          <a:prstGeom prst="roundRect">
            <a:avLst>
              <a:gd name="adj" fmla="val 6452"/>
            </a:avLst>
          </a:prstGeom>
          <a:solidFill>
            <a:srgbClr val="141119"/>
          </a:solidFill>
          <a:ln w="19050">
            <a:solidFill>
              <a:srgbClr val="F6851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50024" y="43434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FFA6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ILLUSTRATIVE · ON LINES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A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1.5M kr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7A1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calendar time · lines + architect hours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41248" y="5715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3DF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anchors, not a quote — and part of the operated track, not the co-build pilot. Method: classic estimate → halve → compose lines + add-ons.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AgentFactory — Enterprise Co-Build Working Session</dc:title>
  <dc:subject>PptxGenJS Presentation</dc:subject>
  <dc:creator>context&amp; × Agentics</dc:creator>
  <cp:lastModifiedBy>context&amp; × Agentics</cp:lastModifiedBy>
  <cp:revision>1</cp:revision>
  <dcterms:created xsi:type="dcterms:W3CDTF">2026-07-06T21:37:26Z</dcterms:created>
  <dcterms:modified xsi:type="dcterms:W3CDTF">2026-07-06T21:37:26Z</dcterms:modified>
</cp:coreProperties>
</file>